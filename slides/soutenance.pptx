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d'ouverture (Arun). Presenter le sujet en une phrase : on cherche une fonction Q qui relie deux paliers, c en -inf et 0 en +inf, et on veut savoir pour quels parametres mu, c un tel profil existe. La courbe en bas a droite est justement ce profil.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: g(0)=g'(0)=0 garantit que 0 est un equilibre. Le coeur du sujet : trouver les bons (mu, c). Question jury probable : pourquoi deux conditions aux limites ? Reponse : un profil de transition doit etre plat aux deux bouts (les deux phases stables).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de ce slide : montrer qu'on a situe le probleme dans la litterature (barème : etat de l'art + biblio). Le mot-cle a retenir : 'front bistable'. Si on demande une reference : Fife &amp; McLeod, Archive for Rational Mechanics and Analysis, 1977.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Idee a faire passer : P est un detecteur. Un sommet interieur de P donne un couple (c, mu) valide. Pas de sommet = pas de solution (on y revient au slide regard critique).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C'est LE point a maitriser. H = Q'^2/2 - G(Q) - (mu/2)Q^2. On derive, le crochet est nul par l'equation, donc H constante. En +inf tout tend vers 0 donc H=0. D'ou Q'^2 = f(Q). On a reduit l'ordre 2 a l'ordre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a savoir defendre au tableau. La cle : f'(y) = 2(mu*y + g(y)). Donc f'(y0)=0 EQUIVAUT a y0 equilibre. Cas 1 (pas equilibre) : f' non nul -&gt; changement de signe -&gt; f&lt;0 quelque part, impossible. Cas 2 (equilibre) : la constante resout l'EDO, Cauchy-Lipschitz force Q constante, impossible car Q va de c a 0. C'est la correction de la preuve initiale qui confondait les deux notions.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Synthese = on prouve l'existence. L'argument fin : pres de c, f a un zero DOUBLE (f(c)=0 et f'(c)=0), donc 1/sqrt(f) n'est pas integrable -&gt; Phi tend vers -inf, ce qui donne le palier. Unicite : deux solutions verifient la meme EDO d'ordre 1 avec meme condition initiale apres translation -&gt; Cauchy-Lipschitz.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theoreme central : equivalence complete (necessaire ET suffisant). Partie 1 = sens direct (toute solution passe l'algo), Partie 2 = reciproque (l'algo donne une solution).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Deux fonctions. Point d'attention oral : 'pourquoi integrer des deux cotes ?' -&gt; partir du milieu c/2 ou f&gt;0, puis aller vers chaque palier. Les zeros doubles de f rendent les paliers asymptotiques, donc pas de blow-up.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Argument fort pour le barème (taux de bon fonctionnement). On a une solution EXACTE en tanh, et le code colle a 1e-10. Si on demande d'ou vient le tanh : Q' = -(sqrt(mu)/c) Q(c-Q), equation logistique, separation des variables -&gt; sigmoide.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qui montre la maturite : on sait QUAND il n'y a pas de solution. g=-t^3 -&gt; P(x)=x^2/2 croissante -&gt; pas de sommet -&gt; rien. C'est coherent avec la theorie (necessite). Honnetete = points en plus.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d'ouverture (celui que le jury aimera creuser). Idee a savoir : ν=0 &lt;=&gt; aires egales (Maxwell). On l'obtient en multipliant l'EDO du front mobile par U' et en integrant : nu * integrale(U'^2) = - integrale de la reaction. Si on ne maitrise pas le detail, assumer : 'on s'est appuyes sur Fife-McLeod pour cette partie'.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en 5 points. Chacun peut prendre un point. Insister sur la chaine d'outils (energie -&gt; ordre 1 -&gt; separation des variables) et la validation numerique.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cloture. Garder en tete les 3 questions probables : (1) pourquoi g=-t^3 ne marche pas, (2) d'ou vient la solution tanh, (3) que represente la condition de Maxwell. Repartir les reponses entre les membres.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cyte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274320"/>
            <a:ext cx="96012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188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 Tech — Mathématiques Appliquées &amp; Science des Données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640080" y="1536192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Résolution d'une équation</a:t>
            </a:r>
            <a:endParaRPr lang="en-US" sz="3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différentielle d'ordre deux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" y="2788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théorique · Synthèse · Implémentation numérique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40080" y="34290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Arun Kuganesan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Haytham Bouhou · Jérémie Konda · Amine Taki · Ulysse Beqiraj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GM &amp; MF — ING1   ·   2025–2026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989320" y="2743200"/>
            <a:ext cx="2880360" cy="1783080"/>
          </a:xfrm>
          <a:prstGeom prst="roundRect">
            <a:avLst>
              <a:gd name="adj" fmla="val 4103"/>
            </a:avLst>
          </a:prstGeom>
          <a:solidFill>
            <a:srgbClr val="EEF3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/home/claude/fig3_profil_vs_exa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1908" y="2907792"/>
            <a:ext cx="2606040" cy="149847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problème</a:t>
            </a:r>
            <a:endParaRPr lang="en-US" sz="3000" dirty="0"/>
          </a:p>
        </p:txBody>
      </p:sp>
      <p:pic>
        <p:nvPicPr>
          <p:cNvPr id="4" name="Image 0" descr="/home/claude/eq_pro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99616"/>
            <a:ext cx="4024503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194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cherche un </a:t>
            </a:r>
            <a:pPr indent="0" marL="0">
              <a:buNone/>
            </a:pPr>
            <a:r>
              <a:rPr lang="en-US" sz="15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pPr indent="0" marL="0">
              <a:buNone/>
            </a:pPr>
            <a:r>
              <a:rPr lang="en-US" sz="15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un profil régulier qui descend du palier c vers 0.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" y="278892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régulière avec g(0) = g'(0) = 0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paramètres à déterminer : μ, c &gt; 0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paliers imposent deux conditions aux limites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943600" y="1554480"/>
            <a:ext cx="2834640" cy="2926080"/>
          </a:xfrm>
          <a:prstGeom prst="roundRect">
            <a:avLst>
              <a:gd name="adj" fmla="val 2581"/>
            </a:avLst>
          </a:prstGeom>
          <a:solidFill>
            <a:srgbClr val="EEF3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1" descr="/home/claude/fig3_profil_vs_exa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3620" y="1828800"/>
            <a:ext cx="2514600" cy="144589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43600" y="41148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profil recherché Q(x)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8549640" y="4709160"/>
            <a:ext cx="292608" cy="292608"/>
          </a:xfrm>
          <a:prstGeom prst="ellipse">
            <a:avLst/>
          </a:prstGeom>
          <a:solidFill>
            <a:srgbClr val="16233B"/>
          </a:solidFill>
          <a:ln/>
        </p:spPr>
      </p:sp>
      <p:sp>
        <p:nvSpPr>
          <p:cNvPr id="11" name="Text 7"/>
          <p:cNvSpPr/>
          <p:nvPr/>
        </p:nvSpPr>
        <p:spPr>
          <a:xfrm>
            <a:off x="8549640" y="4709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État de l'art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problème est l'équation de profil des </a:t>
            </a:r>
            <a:pPr indent="0" marL="0">
              <a:buNone/>
            </a:pPr>
            <a:r>
              <a:rPr lang="en-US" sz="15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fronts de réaction–diffusion</a:t>
            </a:r>
            <a:pPr indent="0" marL="0">
              <a:buNone/>
            </a:pPr>
            <a:r>
              <a:rPr lang="en-US" sz="15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type Allen–Cahn / Nagumo. Existence et unicité étudiées par Fife &amp; McLeod (1977).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931920" cy="960120"/>
          </a:xfrm>
          <a:prstGeom prst="roundRect">
            <a:avLst>
              <a:gd name="adj" fmla="val 5714"/>
            </a:avLst>
          </a:prstGeom>
          <a:solidFill>
            <a:srgbClr val="EEF3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633472"/>
            <a:ext cx="365760" cy="365760"/>
          </a:xfrm>
          <a:prstGeom prst="ellipse">
            <a:avLst/>
          </a:prstGeom>
          <a:solidFill>
            <a:srgbClr val="1F5FA8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633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247802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Séparation de phases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80160" y="28072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Alliages métalliques (Allen–Cahn, 1979)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2331720"/>
            <a:ext cx="3931920" cy="960120"/>
          </a:xfrm>
          <a:prstGeom prst="roundRect">
            <a:avLst>
              <a:gd name="adj" fmla="val 5714"/>
            </a:avLst>
          </a:prstGeom>
          <a:solidFill>
            <a:srgbClr val="EEF3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64608" y="2633472"/>
            <a:ext cx="365760" cy="365760"/>
          </a:xfrm>
          <a:prstGeom prst="ellipse">
            <a:avLst/>
          </a:prstGeom>
          <a:solidFill>
            <a:srgbClr val="1F5FA8"/>
          </a:solidFill>
          <a:ln/>
        </p:spPr>
      </p:sp>
      <p:sp>
        <p:nvSpPr>
          <p:cNvPr id="12" name="Text 10"/>
          <p:cNvSpPr/>
          <p:nvPr/>
        </p:nvSpPr>
        <p:spPr>
          <a:xfrm>
            <a:off x="4864608" y="2633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94960" y="247802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Influx nerveux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394960" y="28072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Propagation le long d'un axone (Nagumo)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429000"/>
            <a:ext cx="3931920" cy="960120"/>
          </a:xfrm>
          <a:prstGeom prst="roundRect">
            <a:avLst>
              <a:gd name="adj" fmla="val 5714"/>
            </a:avLst>
          </a:prstGeom>
          <a:solidFill>
            <a:srgbClr val="EEF3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49808" y="3730752"/>
            <a:ext cx="365760" cy="365760"/>
          </a:xfrm>
          <a:prstGeom prst="ellipse">
            <a:avLst/>
          </a:prstGeom>
          <a:solidFill>
            <a:srgbClr val="1F5FA8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357530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Génétique des populations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280160" y="39044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d'un gène (KPP, 1937)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663440" y="3429000"/>
            <a:ext cx="3931920" cy="960120"/>
          </a:xfrm>
          <a:prstGeom prst="roundRect">
            <a:avLst>
              <a:gd name="adj" fmla="val 5714"/>
            </a:avLst>
          </a:prstGeom>
          <a:solidFill>
            <a:srgbClr val="EEF3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64608" y="3730752"/>
            <a:ext cx="365760" cy="365760"/>
          </a:xfrm>
          <a:prstGeom prst="ellipse">
            <a:avLst/>
          </a:prstGeom>
          <a:solidFill>
            <a:srgbClr val="1F5FA8"/>
          </a:solidFill>
          <a:ln/>
        </p:spPr>
      </p:sp>
      <p:sp>
        <p:nvSpPr>
          <p:cNvPr id="22" name="Text 20"/>
          <p:cNvSpPr/>
          <p:nvPr/>
        </p:nvSpPr>
        <p:spPr>
          <a:xfrm>
            <a:off x="4864608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94960" y="357530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Fronts de combustion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394960" y="39044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entre deux états stables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549640" y="4709160"/>
            <a:ext cx="292608" cy="292608"/>
          </a:xfrm>
          <a:prstGeom prst="ellipse">
            <a:avLst/>
          </a:prstGeom>
          <a:solidFill>
            <a:srgbClr val="16233B"/>
          </a:solidFill>
          <a:ln/>
        </p:spPr>
      </p:sp>
      <p:sp>
        <p:nvSpPr>
          <p:cNvPr id="26" name="Text 24"/>
          <p:cNvSpPr/>
          <p:nvPr/>
        </p:nvSpPr>
        <p:spPr>
          <a:xfrm>
            <a:off x="8549640" y="4709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L'algorithme proposé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introduit la fonction auxiliaire</a:t>
            </a:r>
            <a:endParaRPr lang="en-US" sz="1450" dirty="0"/>
          </a:p>
        </p:txBody>
      </p:sp>
      <p:pic>
        <p:nvPicPr>
          <p:cNvPr id="5" name="Image 0" descr="/home/claude/eq_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82496"/>
            <a:ext cx="1355353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468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cherche c &gt; 0 tel que :</a:t>
            </a:r>
            <a:endParaRPr lang="en-US" sz="1450" dirty="0"/>
          </a:p>
        </p:txBody>
      </p:sp>
      <p:pic>
        <p:nvPicPr>
          <p:cNvPr id="7" name="Image 1" descr="/home/claude/eq_co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16352"/>
            <a:ext cx="3071788" cy="3108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3429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 on pose </a:t>
            </a:r>
            <a:pPr indent="0" marL="0">
              <a:buNone/>
            </a:pPr>
            <a:r>
              <a:rPr lang="en-US" sz="14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= P(c).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548640" y="39319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on démontre que cela capture exactement toutes les solutions.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897880" y="1463040"/>
            <a:ext cx="2926080" cy="3017520"/>
          </a:xfrm>
          <a:prstGeom prst="roundRect">
            <a:avLst>
              <a:gd name="adj" fmla="val 2500"/>
            </a:avLst>
          </a:prstGeom>
          <a:solidFill>
            <a:srgbClr val="EEF3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2" descr="/home/claude/fig1_P_bistab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783080"/>
            <a:ext cx="2651760" cy="152476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897880" y="4114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Sommet intérieur → (c, μ)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8549640" y="4709160"/>
            <a:ext cx="292608" cy="292608"/>
          </a:xfrm>
          <a:prstGeom prst="ellipse">
            <a:avLst/>
          </a:prstGeom>
          <a:solidFill>
            <a:srgbClr val="16233B"/>
          </a:solidFill>
          <a:ln/>
        </p:spPr>
      </p:sp>
      <p:sp>
        <p:nvSpPr>
          <p:cNvPr id="14" name="Text 9"/>
          <p:cNvSpPr/>
          <p:nvPr/>
        </p:nvSpPr>
        <p:spPr>
          <a:xfrm>
            <a:off x="8549640" y="4709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— ANALYSE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L'idée clé : une énergie conservée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multipliant l'équation par Q' et en intégrant, on fait apparaître une </a:t>
            </a:r>
            <a:pPr indent="0" marL="0">
              <a:buNone/>
            </a:pPr>
            <a:r>
              <a:rPr lang="en-US" sz="15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énergie H(x) conservée</a:t>
            </a:r>
            <a:pPr indent="0" marL="0">
              <a:buNone/>
            </a:pPr>
            <a:r>
              <a:rPr lang="en-US" sz="15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(H' = 0). Comme Q, Q' → 0 en +∞, on a H ≡ 0 :</a:t>
            </a:r>
            <a:endParaRPr lang="en-US" sz="1500" dirty="0"/>
          </a:p>
        </p:txBody>
      </p:sp>
      <p:pic>
        <p:nvPicPr>
          <p:cNvPr id="5" name="Image 0" descr="/home/claude/eq_energ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86000"/>
            <a:ext cx="2917658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017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passe ainsi de l'ordre 2 à l'ordre 1 :</a:t>
            </a:r>
            <a:endParaRPr lang="en-US" sz="1450" dirty="0"/>
          </a:p>
        </p:txBody>
      </p:sp>
      <p:pic>
        <p:nvPicPr>
          <p:cNvPr id="7" name="Image 1" descr="/home/claude/eq_order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383280"/>
            <a:ext cx="1298505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40690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Analogie : une bille qui roule dans un potentiel — l'énergie totale (cinétique + potentielle) ne change pas.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126480" y="1463040"/>
            <a:ext cx="2697480" cy="3017520"/>
          </a:xfrm>
          <a:prstGeom prst="roundRect">
            <a:avLst>
              <a:gd name="adj" fmla="val 2712"/>
            </a:avLst>
          </a:prstGeom>
          <a:solidFill>
            <a:srgbClr val="EEF3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2" descr="/home/claude/fig6_ph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828800"/>
            <a:ext cx="2468880" cy="153470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126480" y="41148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phase (Q, Q')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8549640" y="4709160"/>
            <a:ext cx="292608" cy="292608"/>
          </a:xfrm>
          <a:prstGeom prst="ellipse">
            <a:avLst/>
          </a:prstGeom>
          <a:solidFill>
            <a:srgbClr val="16233B"/>
          </a:solidFill>
          <a:ln/>
        </p:spPr>
      </p:sp>
      <p:sp>
        <p:nvSpPr>
          <p:cNvPr id="13" name="Text 8"/>
          <p:cNvSpPr/>
          <p:nvPr/>
        </p:nvSpPr>
        <p:spPr>
          <a:xfrm>
            <a:off x="8549640" y="4709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— ANALYSE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point délicat : f &gt; 0 sur ]0, c[</a:t>
            </a:r>
            <a:endParaRPr lang="en-US" sz="3000" dirty="0"/>
          </a:p>
        </p:txBody>
      </p:sp>
      <p:pic>
        <p:nvPicPr>
          <p:cNvPr id="4" name="Image 0" descr="/home/claude/eq_p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162433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7830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 Q'² = f(Q) ≥ 0, on a déjà f ≥ 0. Si f s'annulait en y₀, deux cas — tous deux impossibles :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48640" y="2468880"/>
            <a:ext cx="3977640" cy="1691640"/>
          </a:xfrm>
          <a:prstGeom prst="roundRect">
            <a:avLst>
              <a:gd name="adj" fmla="val 3784"/>
            </a:avLst>
          </a:prstGeom>
          <a:solidFill>
            <a:srgbClr val="EEF3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2651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1 — f'(y₀) ≠ 0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30632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Alors f change de signe en y₀, donc deviendrait négative : contradiction avec f ≥ 0.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709160" y="2468880"/>
            <a:ext cx="3977640" cy="1691640"/>
          </a:xfrm>
          <a:prstGeom prst="roundRect">
            <a:avLst>
              <a:gd name="adj" fmla="val 3784"/>
            </a:avLst>
          </a:prstGeom>
          <a:solidFill>
            <a:srgbClr val="FBEE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937760" y="2651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2 — y₀ est un équilibre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937760" y="30632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constante y₀ est solution ; par Cauchy–Lipschitz, Q ≡ y₀, ce qui contredit Q(±∞).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48640" y="43434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Erreur fréquente : « zéro de f » n'est pas « point d'équilibre » — ils ne coïncident qu'aux bords.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549640" y="4709160"/>
            <a:ext cx="292608" cy="292608"/>
          </a:xfrm>
          <a:prstGeom prst="ellipse">
            <a:avLst/>
          </a:prstGeom>
          <a:solidFill>
            <a:srgbClr val="16233B"/>
          </a:solidFill>
          <a:ln/>
        </p:spPr>
      </p:sp>
      <p:sp>
        <p:nvSpPr>
          <p:cNvPr id="14" name="Text 11"/>
          <p:cNvSpPr/>
          <p:nvPr/>
        </p:nvSpPr>
        <p:spPr>
          <a:xfrm>
            <a:off x="8549640" y="4709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— SYNTHÈSE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Construction et unicité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Réciproque</a:t>
            </a:r>
            <a:pPr indent="0" marL="0">
              <a:buNone/>
            </a:pPr>
            <a:r>
              <a:rPr lang="en-US" sz="15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sous les conditions de l'algorithme, on construit Q par </a:t>
            </a:r>
            <a:pPr indent="0" marL="0">
              <a:buNone/>
            </a:pPr>
            <a:r>
              <a:rPr lang="en-US" sz="15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séparation des variables</a:t>
            </a:r>
            <a:pPr indent="0" marL="0">
              <a:buNone/>
            </a:pPr>
            <a:r>
              <a:rPr lang="en-US" sz="15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5212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a un zéro double en 0 et en c → l'intégrale diverge aux deux bords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 : ]0,c[ → ℝ est une bijection ; on pose Q = Φ⁻¹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est solution, et unique à translation près (Cauchy–Lipschitz)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Unique à translation » = on peut décaler le front horizontalement.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89320" y="1463040"/>
            <a:ext cx="2834640" cy="3017520"/>
          </a:xfrm>
          <a:prstGeom prst="roundRect">
            <a:avLst>
              <a:gd name="adj" fmla="val 2581"/>
            </a:avLst>
          </a:prstGeom>
          <a:solidFill>
            <a:srgbClr val="EEF3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/home/claude/fig5_trans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3620" y="1874520"/>
            <a:ext cx="2606040" cy="149847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89320" y="41148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Invariance par translation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549640" y="4709160"/>
            <a:ext cx="292608" cy="292608"/>
          </a:xfrm>
          <a:prstGeom prst="ellipse">
            <a:avLst/>
          </a:prstGeom>
          <a:solidFill>
            <a:srgbClr val="16233B"/>
          </a:solidFill>
          <a:ln/>
        </p:spPr>
      </p:sp>
      <p:sp>
        <p:nvSpPr>
          <p:cNvPr id="11" name="Text 8"/>
          <p:cNvSpPr/>
          <p:nvPr/>
        </p:nvSpPr>
        <p:spPr>
          <a:xfrm>
            <a:off x="8549640" y="4709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60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PRINCIPAL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problème admet une solution si et seulement si</a:t>
            </a:r>
            <a:endParaRPr lang="en-US" sz="2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l'algorithme renvoie un couple (c, μ).</a:t>
            </a:r>
            <a:endParaRPr lang="en-US" sz="2400" dirty="0"/>
          </a:p>
        </p:txBody>
      </p:sp>
      <p:pic>
        <p:nvPicPr>
          <p:cNvPr id="4" name="Image 0" descr="/home/claude/eq_theorem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6900" y="2907792"/>
            <a:ext cx="3690200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…auquel cas μ = P(c) et la solution est unique à translation près.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549640" y="4709160"/>
            <a:ext cx="292608" cy="292608"/>
          </a:xfrm>
          <a:prstGeom prst="ellipse">
            <a:avLst/>
          </a:prstGeom>
          <a:solidFill>
            <a:srgbClr val="1F5FA8"/>
          </a:solidFill>
          <a:ln/>
        </p:spPr>
      </p:sp>
      <p:sp>
        <p:nvSpPr>
          <p:cNvPr id="7" name="Text 4"/>
          <p:cNvSpPr/>
          <p:nvPr/>
        </p:nvSpPr>
        <p:spPr>
          <a:xfrm>
            <a:off x="8549640" y="4709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 — NUMÉRIQUE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Implémentation Python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212080" cy="1207008"/>
          </a:xfrm>
          <a:prstGeom prst="roundRect">
            <a:avLst>
              <a:gd name="adj" fmla="val 5303"/>
            </a:avLst>
          </a:prstGeom>
          <a:solidFill>
            <a:srgbClr val="EEF3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544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5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find_c_values(g)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1892808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Échantillonne P, repère ses maxima intérieurs (P' : + → −), vérifie les 3 conditions. Intégration via scipy quad.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5212080" cy="1207008"/>
          </a:xfrm>
          <a:prstGeom prst="roundRect">
            <a:avLst>
              <a:gd name="adj" fmla="val 5303"/>
            </a:avLst>
          </a:prstGeom>
          <a:solidFill>
            <a:srgbClr val="EEF3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926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5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solve_Q(g, c, μ)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77240" y="3264408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Intègre Q' = −√f(Q) avec solve_ivp (RK45), depuis le milieu c/2, des deux côtés. Pas d'explosion grâce aux zéros doubles.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422452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commenté + script complet sur le dépôt GitHub.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89320" y="1463040"/>
            <a:ext cx="2834640" cy="3017520"/>
          </a:xfrm>
          <a:prstGeom prst="roundRect">
            <a:avLst>
              <a:gd name="adj" fmla="val 2581"/>
            </a:avLst>
          </a:prstGeom>
          <a:solidFill>
            <a:srgbClr val="EEF3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0" descr="/home/claude/fig1_P_bis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783080"/>
            <a:ext cx="2651760" cy="152476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989320" y="41148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automatique de (c, μ)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549640" y="4709160"/>
            <a:ext cx="292608" cy="292608"/>
          </a:xfrm>
          <a:prstGeom prst="ellipse">
            <a:avLst/>
          </a:prstGeom>
          <a:solidFill>
            <a:srgbClr val="16233B"/>
          </a:solidFill>
          <a:ln/>
        </p:spPr>
      </p:sp>
      <p:sp>
        <p:nvSpPr>
          <p:cNvPr id="15" name="Text 12"/>
          <p:cNvSpPr/>
          <p:nvPr/>
        </p:nvSpPr>
        <p:spPr>
          <a:xfrm>
            <a:off x="8549640" y="4709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 — NUMÉRIQUE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contre une solution exacte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cas bistable, l'équation se résout à la main (forme logistique) :</a:t>
            </a:r>
            <a:endParaRPr lang="en-US" sz="1400" dirty="0"/>
          </a:p>
        </p:txBody>
      </p:sp>
      <p:pic>
        <p:nvPicPr>
          <p:cNvPr id="5" name="Image 0" descr="/home/claude/eq_tan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11096"/>
            <a:ext cx="1897189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283464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EEF3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297180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18C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× 10⁻¹⁰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31520" y="37033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maximal entre la solution numérique et la solution exacte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943600" y="1463040"/>
            <a:ext cx="2880360" cy="3017520"/>
          </a:xfrm>
          <a:prstGeom prst="roundRect">
            <a:avLst>
              <a:gd name="adj" fmla="val 2540"/>
            </a:avLst>
          </a:prstGeom>
          <a:solidFill>
            <a:srgbClr val="EEF3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/home/claude/fig3_profil_vs_exa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328" y="1828800"/>
            <a:ext cx="2651760" cy="152476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943600" y="4114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Numérique vs exact : superposés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8549640" y="4709160"/>
            <a:ext cx="292608" cy="292608"/>
          </a:xfrm>
          <a:prstGeom prst="ellipse">
            <a:avLst/>
          </a:prstGeom>
          <a:solidFill>
            <a:srgbClr val="16233B"/>
          </a:solidFill>
          <a:ln/>
        </p:spPr>
      </p:sp>
      <p:sp>
        <p:nvSpPr>
          <p:cNvPr id="13" name="Text 9"/>
          <p:cNvSpPr/>
          <p:nvPr/>
        </p:nvSpPr>
        <p:spPr>
          <a:xfrm>
            <a:off x="8549640" y="4709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REGARD CRITIQUE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 ça ne marche pas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fonction g ne donne pas de front. Contre-exemple </a:t>
            </a:r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g(t) = −t³</a:t>
            </a:r>
            <a:pPr indent="0" marL="0">
              <a:buNone/>
            </a:pPr>
            <a:r>
              <a:rPr lang="en-US" sz="15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</a:t>
            </a:r>
            <a:endParaRPr lang="en-US" sz="1500" dirty="0"/>
          </a:p>
        </p:txBody>
      </p:sp>
      <p:pic>
        <p:nvPicPr>
          <p:cNvPr id="5" name="Image 0" descr="/home/claude/eq_nai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97380"/>
            <a:ext cx="2071493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69748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est strictement croissante → aucun maximum intérieur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l'algorithme renvoie la liste vide — c'est correct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de fait, aucun front n'existe dans ce cas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943600" y="1463040"/>
            <a:ext cx="2880360" cy="3017520"/>
          </a:xfrm>
          <a:prstGeom prst="roundRect">
            <a:avLst>
              <a:gd name="adj" fmla="val 2540"/>
            </a:avLst>
          </a:prstGeom>
          <a:solidFill>
            <a:srgbClr val="EEF3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1" descr="/home/claude/fig2_P_eche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328" y="1783080"/>
            <a:ext cx="2651760" cy="15247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43600" y="4114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monotone : pas de solution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8549640" y="4709160"/>
            <a:ext cx="292608" cy="292608"/>
          </a:xfrm>
          <a:prstGeom prst="ellipse">
            <a:avLst/>
          </a:prstGeom>
          <a:solidFill>
            <a:srgbClr val="16233B"/>
          </a:solidFill>
          <a:ln/>
        </p:spPr>
      </p:sp>
      <p:sp>
        <p:nvSpPr>
          <p:cNvPr id="11" name="Text 7"/>
          <p:cNvSpPr/>
          <p:nvPr/>
        </p:nvSpPr>
        <p:spPr>
          <a:xfrm>
            <a:off x="8549640" y="4709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OUVERTURE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Approfondissement : symétrie &amp; vitesse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front est stationnaire seulement si les deux « puits » sont à égalité — la </a:t>
            </a:r>
            <a:pPr indent="0" marL="0">
              <a:buNone/>
            </a:pPr>
            <a:r>
              <a:rPr lang="en-US" sz="145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de Maxwell</a:t>
            </a:r>
            <a:pPr indent="0" marL="0">
              <a:buNone/>
            </a:pPr>
            <a:r>
              <a:rPr lang="en-US" sz="14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</a:t>
            </a:r>
            <a:endParaRPr lang="en-US" sz="1450" dirty="0"/>
          </a:p>
        </p:txBody>
      </p:sp>
      <p:pic>
        <p:nvPicPr>
          <p:cNvPr id="5" name="Image 0" descr="/home/claude/eq_max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20240"/>
            <a:ext cx="1625203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6974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l'égalité est rompue, le front se met à </a:t>
            </a:r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bouger</a:t>
            </a:r>
            <a:pPr indent="0" marL="0">
              <a:buNone/>
            </a:pPr>
            <a:r>
              <a:rPr lang="en-US" sz="14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(vitesse ν ≠ 0)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324612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phase la plus « profonde » envahit l'autre. Notre problème est le cas critique ν = 0.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080760" y="1463040"/>
            <a:ext cx="2743200" cy="3017520"/>
          </a:xfrm>
          <a:prstGeom prst="roundRect">
            <a:avLst>
              <a:gd name="adj" fmla="val 2667"/>
            </a:avLst>
          </a:prstGeom>
          <a:solidFill>
            <a:srgbClr val="EEF3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/home/claude/fig6_ph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5060" y="1874520"/>
            <a:ext cx="2514600" cy="15631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08076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hétérocline 0 ↔ c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8549640" y="4709160"/>
            <a:ext cx="292608" cy="292608"/>
          </a:xfrm>
          <a:prstGeom prst="ellipse">
            <a:avLst/>
          </a:prstGeom>
          <a:solidFill>
            <a:srgbClr val="16233B"/>
          </a:solidFill>
          <a:ln/>
        </p:spPr>
      </p:sp>
      <p:sp>
        <p:nvSpPr>
          <p:cNvPr id="12" name="Text 8"/>
          <p:cNvSpPr/>
          <p:nvPr/>
        </p:nvSpPr>
        <p:spPr>
          <a:xfrm>
            <a:off x="8549640" y="4709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435608"/>
            <a:ext cx="274320" cy="274320"/>
          </a:xfrm>
          <a:prstGeom prst="ellipse">
            <a:avLst/>
          </a:prstGeom>
          <a:solidFill>
            <a:srgbClr val="1F5FA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35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8872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Existence ⇔ sommet intérieur de P (nécessaire et suffisant)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31520" y="2002536"/>
            <a:ext cx="274320" cy="274320"/>
          </a:xfrm>
          <a:prstGeom prst="ellipse">
            <a:avLst/>
          </a:prstGeom>
          <a:solidFill>
            <a:srgbClr val="1F5FA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02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984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Unicité à translation près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31520" y="2569464"/>
            <a:ext cx="274320" cy="274320"/>
          </a:xfrm>
          <a:prstGeom prst="ellipse">
            <a:avLst/>
          </a:prstGeom>
          <a:solidFill>
            <a:srgbClr val="1F5FA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569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55117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: énergie conservée, Cauchy–Lipschitz, séparation des variables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31520" y="3136392"/>
            <a:ext cx="274320" cy="274320"/>
          </a:xfrm>
          <a:prstGeom prst="ellipse">
            <a:avLst/>
          </a:prstGeom>
          <a:solidFill>
            <a:srgbClr val="1F5FA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136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311810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validé contre solution exacte (≈ 10⁻¹⁰)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31520" y="3703320"/>
            <a:ext cx="274320" cy="274320"/>
          </a:xfrm>
          <a:prstGeom prst="ellipse">
            <a:avLst/>
          </a:prstGeom>
          <a:solidFill>
            <a:srgbClr val="1F5FA8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36850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Rattachement aux fronts d'Allen–Cahn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549640" y="4709160"/>
            <a:ext cx="292608" cy="292608"/>
          </a:xfrm>
          <a:prstGeom prst="ellipse">
            <a:avLst/>
          </a:prstGeom>
          <a:solidFill>
            <a:srgbClr val="1F5FA8"/>
          </a:solidFill>
          <a:ln/>
        </p:spPr>
      </p:sp>
      <p:sp>
        <p:nvSpPr>
          <p:cNvPr id="19" name="Text 17"/>
          <p:cNvSpPr/>
          <p:nvPr/>
        </p:nvSpPr>
        <p:spPr>
          <a:xfrm>
            <a:off x="8549640" y="4709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69480" y="41148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</p:spPr>
      </p:sp>
      <p:pic>
        <p:nvPicPr>
          <p:cNvPr id="3" name="Image 0" descr="/home/claude/logo_cyte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8372" y="612648"/>
            <a:ext cx="96012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9202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731520" y="26974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Arun Kuganesan · Haytham Bouhou · Jérémie Konda · Amine Taki · Ulysse Beqiraj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Soutenance — EDO d'ordre 2</dc:title>
  <dc:subject>PptxGenJS Presentation</dc:subject>
  <dc:creator>Arun Kuganesan et al.</dc:creator>
  <cp:lastModifiedBy>Arun Kuganesan et al.</cp:lastModifiedBy>
  <cp:revision>1</cp:revision>
  <dcterms:created xsi:type="dcterms:W3CDTF">2026-06-11T01:49:34Z</dcterms:created>
  <dcterms:modified xsi:type="dcterms:W3CDTF">2026-06-11T01:49:34Z</dcterms:modified>
</cp:coreProperties>
</file>